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83" r:id="rId3"/>
    <p:sldId id="278" r:id="rId4"/>
    <p:sldId id="279" r:id="rId5"/>
  </p:sldIdLst>
  <p:sldSz cx="24384000" cy="13716000"/>
  <p:notesSz cx="7099300" cy="10234613"/>
  <p:embeddedFontLst>
    <p:embeddedFont>
      <p:font typeface="Pretendard Light" panose="020B0600000101010101" charset="-127"/>
      <p:regular r:id="rId6"/>
    </p:embeddedFont>
    <p:embeddedFont>
      <p:font typeface="Pretendard Regular" panose="020B0600000101010101" charset="-127"/>
      <p:regular r:id="rId7"/>
    </p:embeddedFont>
    <p:embeddedFont>
      <p:font typeface="Pretendard SemiBold" panose="020B0600000101010101" charset="-12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F89"/>
    <a:srgbClr val="DDDDDD"/>
    <a:srgbClr val="FFA202"/>
    <a:srgbClr val="4D9CFE"/>
    <a:srgbClr val="558ED5"/>
    <a:srgbClr val="232126"/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1792224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14350" lvl="0" indent="-514350" algn="l">
              <a:lnSpc>
                <a:spcPct val="116199"/>
              </a:lnSpc>
              <a:buAutoNum type="arabicPeriod"/>
            </a:pPr>
            <a:r>
              <a:rPr sz="3333" b="0">
                <a:solidFill>
                  <a:srgbClr val="4D9CFE"/>
                </a:solidFill>
                <a:latin typeface="Pretendard SemiBold"/>
              </a:rPr>
              <a:t>1. AI 기술명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8768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1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127EE71-4EC6-77A0-E8C4-BCE8FC40F480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성과보고서 총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페이지 내외로 작성 요망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4440" y="2834640"/>
            <a:ext cx="216712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8382D"/>
                </a:solidFill>
                <a:latin typeface="Pretendard"/>
              </a:rPr>
              <a:t>VillageCoverage — 농촌 생활서비스 공급계획 AI 의사결정 지원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319272"/>
            <a:ext cx="2153412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2615B"/>
                </a:solidFill>
                <a:latin typeface="Pretendard"/>
              </a:rPr>
              <a:t>요청이 적다는 이유로 생활서비스가 필요한 마을이 공급계획에서 사라지지 않도록 돕는 AI 기반 의사결정 지원 시스템.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91363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6B4A"/>
                </a:solidFill>
                <a:latin typeface="Pretendard"/>
              </a:rPr>
              <a:t>네 정책안 비교 · 같은 지역/예산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91872" y="391363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6B4A"/>
                </a:solidFill>
                <a:latin typeface="Pretendard"/>
              </a:rPr>
              <a:t>마을별 계획 지도 · 조사 필요/미배정 표시</a:t>
            </a:r>
          </a:p>
        </p:txBody>
      </p:sp>
      <p:pic>
        <p:nvPicPr>
          <p:cNvPr id="26" name="Picture 25" descr="ScenarioCompare_local-E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279392"/>
            <a:ext cx="10332720" cy="8385048"/>
          </a:xfrm>
          <a:prstGeom prst="rect">
            <a:avLst/>
          </a:prstGeom>
        </p:spPr>
      </p:pic>
      <p:pic>
        <p:nvPicPr>
          <p:cNvPr id="27" name="Picture 26" descr="Dashboard_map_local-E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1952" y="4279392"/>
            <a:ext cx="9006840" cy="8385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5880" y="12746736"/>
            <a:ext cx="21671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2615B"/>
                </a:solidFill>
                <a:latin typeface="Pretendard"/>
              </a:rPr>
              <a:t>로컬 Playwright E2E 캡처 · 합성 데모 데이터 · 2026-10-13 · 소스 b6ff52a · 원격 Render 화면 아님</a:t>
            </a:r>
          </a:p>
        </p:txBody>
      </p:sp>
    </p:spTree>
    <p:extLst>
      <p:ext uri="{BB962C8B-B14F-4D97-AF65-F5344CB8AC3E}">
        <p14:creationId xmlns:p14="http://schemas.microsoft.com/office/powerpoint/2010/main" val="401815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52324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아이디어명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3.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기술요약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8768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2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127EE71-4EC6-77A0-E8C4-BCE8FC40F480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AI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라이프 아이디어 챌린지 참고 시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해당되는 아이디어 번호와 이름을 기재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    </a:t>
            </a:r>
            <a:r>
              <a:rPr lang="ko-KR" alt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예</a:t>
            </a:r>
            <a:r>
              <a:rPr lang="en-US" altLang="ko-KR" sz="3200" b="0" i="0" u="none" strike="noStrike" dirty="0">
                <a:latin typeface="Pretendard Regular"/>
                <a:ea typeface="Pretendard Regular"/>
                <a:cs typeface="Pretendard Regular"/>
              </a:rPr>
              <a:t>) xx</a:t>
            </a:r>
            <a:r>
              <a:rPr lang="ko-KR" alt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en-US" altLang="ko-KR" sz="3200" b="0" i="0" u="none" strike="noStrike" dirty="0" err="1">
                <a:latin typeface="Pretendard Regular"/>
                <a:ea typeface="Pretendard Regular"/>
                <a:cs typeface="Pretendard Regular"/>
              </a:rPr>
              <a:t>xxxxxxx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261872" y="2871216"/>
            <a:ext cx="21671280" cy="566928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2944368"/>
            <a:ext cx="21214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66A11"/>
                </a:solidFill>
                <a:latin typeface="Pretendard"/>
              </a:rPr>
              <a:t>이전 아이디어 번호·정확한 선정 상태·5점 가점 자격: USER_CONFIRMATION_REQUIRED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3767328"/>
            <a:ext cx="5166360" cy="2377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39" y="3977639"/>
            <a:ext cx="4800600" cy="310896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7048" y="3986783"/>
            <a:ext cx="46725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6B4A"/>
                </a:solidFill>
                <a:latin typeface="Pretendard"/>
              </a:rPr>
              <a:t>01  문제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498848"/>
            <a:ext cx="47091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8382D"/>
                </a:solidFill>
                <a:latin typeface="Pretendard"/>
              </a:rPr>
              <a:t>요청 기록이 적은 마을을
필요가 없는 곳으로
오판할 위험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590288"/>
            <a:ext cx="35661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76B4A"/>
                </a:solidFill>
                <a:latin typeface="Pretendard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767328"/>
            <a:ext cx="5166360" cy="2377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0" y="3977639"/>
            <a:ext cx="4800600" cy="310896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3986783"/>
            <a:ext cx="46725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6B4A"/>
                </a:solidFill>
                <a:latin typeface="Pretendard"/>
              </a:rPr>
              <a:t>02  근거 구조화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498848"/>
            <a:ext cx="47091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8382D"/>
                </a:solidFill>
                <a:latin typeface="Pretendard"/>
              </a:rPr>
              <a:t>AI 보조로 비정형 기록을
검토 초안으로 정리.
부족·충돌은 조사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51792" y="4590288"/>
            <a:ext cx="35661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76B4A"/>
                </a:solidFill>
                <a:latin typeface="Pretendard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435840" y="3767328"/>
            <a:ext cx="5166360" cy="2377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618720" y="3977639"/>
            <a:ext cx="4800600" cy="310896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82728" y="3986783"/>
            <a:ext cx="46725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6B4A"/>
                </a:solidFill>
                <a:latin typeface="Pretendard"/>
              </a:rPr>
              <a:t>03  제약 최적화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64440" y="4498848"/>
            <a:ext cx="47091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8382D"/>
                </a:solidFill>
                <a:latin typeface="Pretendard"/>
              </a:rPr>
              <a:t>CP-SAT이 예산·공급·이동·
일정 조건 아래 네 정책안을
계산해 비교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629632" y="4590288"/>
            <a:ext cx="35661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76B4A"/>
                </a:solidFill>
                <a:latin typeface="Pretendard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013680" y="3767328"/>
            <a:ext cx="5166360" cy="2377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196560" y="3977639"/>
            <a:ext cx="4800600" cy="310896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60568" y="3986783"/>
            <a:ext cx="46725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6B4A"/>
                </a:solidFill>
                <a:latin typeface="Pretendard"/>
              </a:rPr>
              <a:t>04  담당자 검토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42280" y="4498848"/>
            <a:ext cx="47091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8382D"/>
                </a:solidFill>
                <a:latin typeface="Pretendard"/>
              </a:rPr>
              <a:t>결과·가정·미배정 사유를
검토하고 정책을 선택.
자동 승인하지 않음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7592" y="6473952"/>
            <a:ext cx="6858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382D"/>
                </a:solidFill>
                <a:latin typeface="Pretendard"/>
              </a:rPr>
              <a:t>시제품 정책 프리셋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98448" y="694944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3039" y="7141464"/>
            <a:ext cx="48828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6B4A"/>
                </a:solidFill>
                <a:latin typeface="Pretendard"/>
              </a:rPr>
              <a:t>효율 중심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39" y="7562088"/>
            <a:ext cx="488289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5B"/>
                </a:solidFill>
                <a:latin typeface="Pretendard"/>
              </a:rPr>
              <a:t>같은 예산에서 서비스 회차 효율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694944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22592" y="7141464"/>
            <a:ext cx="48828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6B4A"/>
                </a:solidFill>
                <a:latin typeface="Pretendard"/>
              </a:rPr>
              <a:t>균형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22592" y="7562088"/>
            <a:ext cx="488289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5B"/>
                </a:solidFill>
                <a:latin typeface="Pretendard"/>
              </a:rPr>
              <a:t>회차·권역 분산·조사 필요 고려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417552" y="694944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582144" y="7141464"/>
            <a:ext cx="48828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6B4A"/>
                </a:solidFill>
                <a:latin typeface="Pretendard"/>
              </a:rPr>
              <a:t>소외 최소화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82144" y="7562088"/>
            <a:ext cx="488289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5B"/>
                </a:solidFill>
                <a:latin typeface="Pretendard"/>
              </a:rPr>
              <a:t>서비스 공백이 긴 권역 우선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977104" y="694944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141696" y="7141464"/>
            <a:ext cx="48828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6B4A"/>
                </a:solidFill>
                <a:latin typeface="Pretendard"/>
              </a:rPr>
              <a:t>최소보장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41696" y="7562088"/>
            <a:ext cx="488289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5B"/>
                </a:solidFill>
                <a:latin typeface="Pretendard"/>
              </a:rPr>
              <a:t>권역별 최소 회차 조건 우선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98448" y="8942832"/>
            <a:ext cx="21671280" cy="1051560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36192" y="9061704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6B4A"/>
                </a:solidFill>
                <a:latin typeface="Pretendard"/>
              </a:rPr>
              <a:t>AI와 최적화의 역할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20" y="9043416"/>
            <a:ext cx="18013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8382D"/>
                </a:solidFill>
                <a:latin typeface="Pretendard"/>
              </a:rPr>
              <a:t>AI는 근거를 정리하는 보조 경로, CP-SAT은 명시된 목적·제약을 계산하는 solver입니다. 정책 가중치와 단가는 시제품 선택이며 현장 합의값이 아닙니다.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10195560"/>
            <a:ext cx="21442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615B"/>
                </a:solidFill>
                <a:latin typeface="Pretendard"/>
              </a:rPr>
              <a:t>사용자 측 사전질의 답변은 원 제안 취지를 설명한 자료이며, KEIT의 개별 구현 승인으로 해석하지 않음.</a:t>
            </a:r>
          </a:p>
        </p:txBody>
      </p:sp>
    </p:spTree>
    <p:extLst>
      <p:ext uri="{BB962C8B-B14F-4D97-AF65-F5344CB8AC3E}">
        <p14:creationId xmlns:p14="http://schemas.microsoft.com/office/powerpoint/2010/main" val="385876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8768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3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E6106C-D7B3-4202-7AD8-022ECD80AA05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A7203F7-93C5-AA6F-8D40-3E7FF5C74839}"/>
              </a:ext>
            </a:extLst>
          </p:cNvPr>
          <p:cNvSpPr txBox="1"/>
          <p:nvPr/>
        </p:nvSpPr>
        <p:spPr>
          <a:xfrm>
            <a:off x="1244600" y="1054100"/>
            <a:ext cx="7061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최종목표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5. 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내용 및 결과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23752-FB0A-B7E9-17FA-7BDDBE176C7F}"/>
              </a:ext>
            </a:extLst>
          </p:cNvPr>
          <p:cNvSpPr txBox="1"/>
          <p:nvPr/>
        </p:nvSpPr>
        <p:spPr>
          <a:xfrm>
            <a:off x="1828800" y="20574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개발 기술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제품에 대한 기본 구현 내용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탐구 내용 및 방법 등을 기재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07592" y="2862072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8382D"/>
                </a:solidFill>
                <a:latin typeface="Pretendard"/>
              </a:rPr>
              <a:t>구현 범위와 검증 경계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8448" y="3401568"/>
            <a:ext cx="9802368" cy="1170432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7904" y="3520440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근거·불확실성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511296"/>
            <a:ext cx="711403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관측 없음/부족/충돌을 저수요로 확정하지 않고 조사 필요·UNKNOWN으로 남김.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4745736"/>
            <a:ext cx="9802368" cy="1170432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17904" y="4864608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AI 기록 구조화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3" y="4855464"/>
            <a:ext cx="711403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Gemini 설정 시 구조화 출력, 미설정 시 결정적 fallback. 본 E2E는 외부 모델 키 없이 실행.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8448" y="6089904"/>
            <a:ext cx="9802368" cy="1170432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7904" y="6208776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네 정책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3" y="6199632"/>
            <a:ext cx="711403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OR-Tools CP-SAT으로 예산·공급·이동·일정 제약 아래 효율·균형·최소보장·소외 최소화 계산.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8448" y="7434072"/>
            <a:ext cx="9802368" cy="1170432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7904" y="7552944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불참·검토 산출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7543800"/>
            <a:ext cx="711403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합성 제공자 불참 후 새 계획 버전과 Decision Memo/PDF·CSV 흐름을 로컬 E2E에서 확인.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57432" y="2862072"/>
            <a:ext cx="11503152" cy="617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22608" y="3072384"/>
            <a:ext cx="109545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382D"/>
                </a:solidFill>
                <a:latin typeface="Pretendard"/>
              </a:rPr>
              <a:t>통제 합성 실험 · 두 정책만 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50040" y="3593592"/>
            <a:ext cx="3090672" cy="31089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14048" y="3602736"/>
            <a:ext cx="296265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66A11"/>
                </a:solidFill>
                <a:latin typeface="Pretendard"/>
              </a:rPr>
              <a:t>SIMULATED FOR PRE-R&amp;D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31752" y="4050791"/>
            <a:ext cx="10927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615B"/>
                </a:solidFill>
                <a:latin typeface="Pretendard"/>
              </a:rPr>
              <a:t>홍성군 장곡면 · 16개 권역 · 예산 5,000,000원 · seed 2026 · 조사 필요=합성 관측 4건 미만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59184" y="4690872"/>
            <a:ext cx="4023360" cy="576072"/>
          </a:xfrm>
          <a:prstGeom prst="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32336" y="4745736"/>
            <a:ext cx="3877056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B4A"/>
                </a:solidFill>
                <a:latin typeface="Pretendard"/>
              </a:rPr>
              <a:t>지표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782543" y="4690872"/>
            <a:ext cx="3246120" cy="576072"/>
          </a:xfrm>
          <a:prstGeom prst="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855695" y="4745736"/>
            <a:ext cx="3099815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6B4A"/>
                </a:solidFill>
                <a:latin typeface="Pretendard"/>
              </a:rPr>
              <a:t>요청량 기준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28664" y="4690872"/>
            <a:ext cx="3154680" cy="576072"/>
          </a:xfrm>
          <a:prstGeom prst="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101815" y="4745736"/>
            <a:ext cx="3008376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6B4A"/>
                </a:solidFill>
                <a:latin typeface="Pretendard"/>
              </a:rPr>
              <a:t>균형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759184" y="5266944"/>
            <a:ext cx="402336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32336" y="5312664"/>
            <a:ext cx="387705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8382D"/>
                </a:solidFill>
                <a:latin typeface="Pretendard"/>
              </a:rPr>
              <a:t>서비스 단위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782543" y="5266944"/>
            <a:ext cx="324612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855695" y="5312664"/>
            <a:ext cx="3099815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028664" y="5266944"/>
            <a:ext cx="315468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101815" y="5312664"/>
            <a:ext cx="300837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59184" y="5843016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32336" y="5888736"/>
            <a:ext cx="387705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8382D"/>
                </a:solidFill>
                <a:latin typeface="Pretendard"/>
              </a:rPr>
              <a:t>배정 권역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782543" y="5843016"/>
            <a:ext cx="3246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55695" y="5888736"/>
            <a:ext cx="3099815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3 / 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028664" y="5843016"/>
            <a:ext cx="3154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101815" y="5888736"/>
            <a:ext cx="300837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12 / 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759184" y="6419088"/>
            <a:ext cx="402336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32336" y="6464807"/>
            <a:ext cx="387705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8382D"/>
                </a:solidFill>
                <a:latin typeface="Pretendard"/>
              </a:rPr>
              <a:t>미배정 권역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782543" y="6419088"/>
            <a:ext cx="324612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55695" y="6464807"/>
            <a:ext cx="3099815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028664" y="6419088"/>
            <a:ext cx="315468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101815" y="6464807"/>
            <a:ext cx="300837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759184" y="6995160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32336" y="7040880"/>
            <a:ext cx="387705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8382D"/>
                </a:solidFill>
                <a:latin typeface="Pretendard"/>
              </a:rPr>
              <a:t>조사 필요 권역 배정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782543" y="6995160"/>
            <a:ext cx="3246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855695" y="7040880"/>
            <a:ext cx="3099815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0 / 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028664" y="6995160"/>
            <a:ext cx="3154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101815" y="7040880"/>
            <a:ext cx="300837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7 / 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759184" y="7571231"/>
            <a:ext cx="402336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832336" y="7616952"/>
            <a:ext cx="387705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8382D"/>
                </a:solidFill>
                <a:latin typeface="Pretendard"/>
              </a:rPr>
              <a:t>모델 이동비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782543" y="7571231"/>
            <a:ext cx="324612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855695" y="7616952"/>
            <a:ext cx="3099815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₩612,525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028664" y="7571231"/>
            <a:ext cx="3154680" cy="576072"/>
          </a:xfrm>
          <a:prstGeom prst="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101815" y="7616952"/>
            <a:ext cx="300837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8382D"/>
                </a:solidFill>
                <a:latin typeface="Pretendard"/>
              </a:rPr>
              <a:t>₩432,899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777472" y="8247888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5B"/>
                </a:solidFill>
                <a:latin typeface="Pretendard"/>
              </a:rPr>
              <a:t>모델 이동비는 공개 고정 도로행렬과 시제품 단가에 따른 추정치로, 실제 지자체 집행비가 아닙니다.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07592" y="9308592"/>
            <a:ext cx="21643848" cy="1024128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45336" y="9427464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66A11"/>
                </a:solidFill>
                <a:latin typeface="Pretendard"/>
              </a:rPr>
              <a:t>해석 한계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9372600"/>
            <a:ext cx="19202400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382D"/>
                </a:solidFill>
                <a:latin typeface="Pretendard"/>
              </a:rPr>
              <a:t>합성 수요·관측·공급·가격으로 계산한 Pre-R&amp;D 예시입니다. 실제 주민 서비스, 9개 마을 추가 지원, 정책 우열, 사회적 효과를 입증하지 않습니다.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53312" y="10497312"/>
            <a:ext cx="21625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2615B"/>
                </a:solidFill>
                <a:latin typeface="Pretendard"/>
              </a:rPr>
              <a:t>출처: artifacts/experiment_results.json · SHA-256 4d984db66fc9b90624dbbb1a26245b6e7f52b3b89e77e44a381c05dfb2cf24eb · 실험 항목 experiment_1_request_count_vs_balanced · UI E2E 결과와 별도</a:t>
            </a:r>
          </a:p>
        </p:txBody>
      </p:sp>
    </p:spTree>
    <p:extLst>
      <p:ext uri="{BB962C8B-B14F-4D97-AF65-F5344CB8AC3E}">
        <p14:creationId xmlns:p14="http://schemas.microsoft.com/office/powerpoint/2010/main" val="128847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8768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4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65BB0-A33B-3E2C-1318-4F98BB3BB4EA}"/>
              </a:ext>
            </a:extLst>
          </p:cNvPr>
          <p:cNvSpPr txBox="1"/>
          <p:nvPr/>
        </p:nvSpPr>
        <p:spPr>
          <a:xfrm>
            <a:off x="1244600" y="1054100"/>
            <a:ext cx="7289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6.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과정에서 애로점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7.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07592" y="2862072"/>
            <a:ext cx="10287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8382D"/>
                </a:solidFill>
                <a:latin typeface="Pretendard"/>
              </a:rPr>
              <a:t>개발 애로점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51792" y="2862072"/>
            <a:ext cx="105613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8382D"/>
                </a:solidFill>
                <a:latin typeface="Pretendard"/>
              </a:rPr>
              <a:t>설계에서 취한 대응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3401568"/>
            <a:ext cx="10195560" cy="978408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3511296"/>
            <a:ext cx="9747504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8382D"/>
                </a:solidFill>
                <a:latin typeface="Pretendard"/>
              </a:rPr>
              <a:t>현장 주민 수요·미기록 필요 자료 부족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24360" y="3401568"/>
            <a:ext cx="10552176" cy="978408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71248" y="3493008"/>
            <a:ext cx="10040112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382D"/>
                </a:solidFill>
                <a:latin typeface="Pretendard"/>
              </a:rPr>
              <a:t>관측 부재를 0으로 대체하지 않고, 부족·충돌은 조사 필요/UNKNOWN으로 유지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7592" y="4562856"/>
            <a:ext cx="1019556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4672584"/>
            <a:ext cx="9747504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8382D"/>
                </a:solidFill>
                <a:latin typeface="Pretendard"/>
              </a:rPr>
              <a:t>제공자 가격·용량·참여가 미확정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24360" y="4562856"/>
            <a:ext cx="10552176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71248" y="4654296"/>
            <a:ext cx="10040112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382D"/>
                </a:solidFill>
                <a:latin typeface="Pretendard"/>
              </a:rPr>
              <a:t>합성 운영값을 실제 계약조건과 분리하고 불참 뒤 후보/비용 재계산 경로 제공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7592" y="5724144"/>
            <a:ext cx="10195560" cy="978408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5833872"/>
            <a:ext cx="9747504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8382D"/>
                </a:solidFill>
                <a:latin typeface="Pretendard"/>
              </a:rPr>
              <a:t>이동·방문일정·solver 복잡도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24360" y="5724144"/>
            <a:ext cx="10552176" cy="978408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71248" y="5815583"/>
            <a:ext cx="10040112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382D"/>
                </a:solidFill>
                <a:latin typeface="Pretendard"/>
              </a:rPr>
              <a:t>입력 제약·solver 상태를 함께 표시; FEASIBLE은 최적성 증명으로 간주하지 않음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07592" y="6885432"/>
            <a:ext cx="1019556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6192" y="6995160"/>
            <a:ext cx="9747504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8382D"/>
                </a:solidFill>
                <a:latin typeface="Pretendard"/>
              </a:rPr>
              <a:t>데이터 출처·개인정보·행정 보안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24360" y="6885432"/>
            <a:ext cx="10552176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71248" y="6976872"/>
            <a:ext cx="10040112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382D"/>
                </a:solidFill>
                <a:latin typeface="Pretendard"/>
              </a:rPr>
              <a:t>근거 출처와 공개/합성 구분, 사람 검토 단계를 유지; 실기관 보안 검증은 향후 과제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8339327"/>
            <a:ext cx="21351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6B4A"/>
                </a:solidFill>
                <a:latin typeface="Pretendard"/>
              </a:rPr>
              <a:t>기대하는 활용 가치 (아직 현장 효과로 검증되지 않음)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16736" y="8842248"/>
            <a:ext cx="6967728" cy="1243584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17904" y="8970264"/>
            <a:ext cx="1600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확인 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1256" y="8924544"/>
            <a:ext cx="482803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기록 공백이 큰 권역을 추가 조사 후보로 드러냄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41663" y="8842248"/>
            <a:ext cx="6967728" cy="1243584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8970264"/>
            <a:ext cx="1600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정책 비교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6184" y="8924544"/>
            <a:ext cx="482803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예산·미충족·근거 차이를 담당자가 함께 검토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166592" y="8842248"/>
            <a:ext cx="6967728" cy="1243584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E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367759" y="8970264"/>
            <a:ext cx="1600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6B4A"/>
                </a:solidFill>
                <a:latin typeface="Pretendard"/>
              </a:rPr>
              <a:t>대응·설명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41112" y="8924544"/>
            <a:ext cx="482803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382D"/>
                </a:solidFill>
                <a:latin typeface="Pretendard"/>
              </a:rPr>
              <a:t>불참 재계획과 판단 전제를 설명 가능한 초안으로 제공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07592" y="10387584"/>
            <a:ext cx="21579840" cy="96012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45336" y="10506456"/>
            <a:ext cx="1600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66A11"/>
                </a:solidFill>
                <a:latin typeface="Pretendard"/>
              </a:rPr>
              <a:t>향후 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8688" y="10451592"/>
            <a:ext cx="19156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382D"/>
                </a:solidFill>
                <a:latin typeface="Pretendard"/>
              </a:rPr>
              <a:t>주민·지자체 파일럿, 가중치·단가 합의, 개인정보/보안·조달 적합성, 실제 서비스 접근성·비용 효과를 별도로 검증해야 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11658600"/>
            <a:ext cx="21351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5B"/>
                </a:solidFill>
                <a:latin typeface="Pretendard"/>
              </a:rPr>
              <a:t>기대효과는 검증된 편익·절감액이 아닙니다. 최종 결정과 행정 승인은 담당자에게 남습니다.</a:t>
            </a:r>
          </a:p>
        </p:txBody>
      </p:sp>
    </p:spTree>
    <p:extLst>
      <p:ext uri="{BB962C8B-B14F-4D97-AF65-F5344CB8AC3E}">
        <p14:creationId xmlns:p14="http://schemas.microsoft.com/office/powerpoint/2010/main" val="196909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79</Words>
  <Application>Microsoft Office PowerPoint</Application>
  <PresentationFormat>사용자 지정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 SemiBold</vt:lpstr>
      <vt:lpstr>Pretendard Regular</vt:lpstr>
      <vt:lpstr>Arial</vt:lpstr>
      <vt:lpstr>Pretendard 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전영건</dc:creator>
  <cp:lastModifiedBy>USER</cp:lastModifiedBy>
  <cp:revision>68</cp:revision>
  <cp:lastPrinted>2026-05-13T05:20:53Z</cp:lastPrinted>
  <dcterms:created xsi:type="dcterms:W3CDTF">2006-08-16T00:00:00Z</dcterms:created>
  <dcterms:modified xsi:type="dcterms:W3CDTF">2026-09-08T02:10:16Z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YtMTBUMDE6NTM6NDBaIiwicElEIjoyMDQ4LCJwcm9jZXNzSWQiOjIwMjY0LCJwcm9jZXNzTmFtZSI6IlBPV0VSUE5ULkVYRSIsInRyYWNlSWQiOiI2MjdDOEYyMzY0OTA0MDM4OUY3N0ZDMUM4MEM2NDlDMyIsInVzZXJDb2RlIjoiUktUTFZIUlhLUyJ9LCJub2RlMiI6eyJkc2QiOiIwMTAwMDAwMDAwMDAyMjQwIiwibG9nVGltZSI6IjIwMjYtMDYtMTZUMDA6MDg6MzBaIiwicElEIjoxLCJwcm9jZXNzSWQiOjIwMjY0LCJwcm9jZXNzTmFtZSI6IlBPV0VSUE5ULkVYRSIsInRyYWNlSWQiOiIzNUJBRkE3NzgwMUI0NDUzOUNBNDQyRDRBMDRFRDE2NCIsInVzZXJDb2RlIjoiUktUTFZIUlhLUyJ9LCJub2RlMyI6eyJkc2QiOiIwMDAwMDAwMDAwMDAwMDAwIiwibG9nVGltZSI6IjIwMjYtMDYtMTZUMDA6MjQ6MzBaIiwicElEIjoyMDQ4LCJwcm9jZXNzSWQiOjIwMjY0LCJwcm9jZXNzTmFtZSI6IlBPV0VSUE5ULkVYRSIsInRyYWNlSWQiOiJDNzQxNjYyMEI1Qzc0MjQ5OTQ0Qzg1NDZEOUU5NDBFMSIsInVzZXJDb2RlIjoiUktUTFZIUlhLUyJ9LCJub2RlNCI6eyJkc2QiOiIwMTAwMDAwMDAwMDAyMjQwIiwibG9nVGltZSI6IjIwMjYtMDktMDhUMDI6MTA6MDRaIiwicElEIjoxLCJwcm9jZXNzSWQiOjIwMjY0LCJwcm9jZXNzTmFtZSI6IlBPV0VSUE5ULkVYRSIsInRyYWNlSWQiOiI2ODYwQjFBRTAwRTI0NjY4QjcyMUI4NzUzRkJGREVCQiIsInVzZXJDb2RlIjoiUktUTFZIUlhLUyJ9LCJub2RlNSI6eyJkc2QiOiIwMDAwMDAwMDAwMDAwMDAwIiwibG9nVGltZSI6IjIwMjYtMDktMTBUMDc6MTc6MjBaIiwicElEIjoyMDQ4LCJwcm9jZXNzSWQiOjExNDI0LCJwcm9jZXNzTmFtZSI6IlBPV0VSUE5ULkVYRSIsInRyYWNlSWQiOiI2Mzg2MzA4OEFFQzQ0MTdCOTc4OUMxM0RDMTA2RkRBQyIsInVzZXJDb2RlIjoiUktUTFZIUlhLUyJ9LCJub2RlQ291bnQiOjYsInJvb3RUcmFjZUlkIjoiRENBOEVBN0RBOUQzNEU0Qjg4NEMxQzVEMTFGODQ4NzgifQ==</vt:lpwstr>
  </property>
</Properties>
</file>